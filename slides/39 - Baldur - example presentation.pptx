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68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PRESENTATION · READING #39 · SESSION 13 · PAIRED WITH #40 DRAFT, SKETCH &amp; PROVE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Baldur: Whole-Proof Generation and Repair with Large Language Models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291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Emily First · Markus N. Rabe · Talia Ringer · Yuriy Brun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37307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ESEC/FSE 2023 · ACM SIGSOFT Distinguished Paper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4754880"/>
            <a:ext cx="4754880" cy="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983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&lt;your name&gt;</a:t>
            </a:r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Thu Feb 18, 2027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5989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deck, auto-drafted from the course reading list — replace highlighted fields after your own read + reality check.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280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1 · PROBLEM &amp;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paper is on our list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72184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535" y="1576791"/>
            <a:ext cx="266273" cy="26627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41732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paradigm pivot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280160" y="1764792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Baldur, neural proving mostly predicted one tactic at a time inside a search loop. Baldur made the case for generating the whole proof in one shot — now the dominant paradigm.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66928" y="2953512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35" y="3058119"/>
            <a:ext cx="266273" cy="26627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89864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course thesis, in miniature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280160" y="32461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engineering is the cost we claim LLMs slash by 10–100x. This is one of the first rigorous, large-scale measurements of that claim on real proof corpora.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66928" y="4434840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35" y="4539447"/>
            <a:ext cx="266273" cy="26627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4379976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our project work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280160" y="472744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→ check → repair with the verifier's error message is exactly the loop you will live in during your course project.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66928" y="580644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EAF1FC"/>
          </a:solidFill>
          <a:ln/>
        </p:spPr>
      </p:sp>
      <p:sp>
        <p:nvSpPr>
          <p:cNvPr id="17" name="Text 12"/>
          <p:cNvSpPr/>
          <p:nvPr/>
        </p:nvSpPr>
        <p:spPr>
          <a:xfrm>
            <a:off x="777240" y="5870448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fit ★★★★★   ·   </a:t>
            </a:r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8: LLMs and interactive theorem proving  ·  ~61 citations (Jul 2026 snapshot)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210B · SE + PL in the Age of AI · Winter 2027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280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1 · PROBLEM &amp;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Formal proof is powerful — and painfully manual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63040"/>
            <a:ext cx="5852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theorem provers (here: Isabelle/HOL) give the strongest guarantee software can have: a machine-checked proof.
</a:t>
            </a:r>
            <a:endParaRPr lang="en-US" sz="15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price is proof engineering: a human writes every proof step, and verified developments routinely take </a:t>
            </a:r>
            <a:pPr indent="0" marL="0">
              <a:spcAft>
                <a:spcPts val="1000"/>
              </a:spcAft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person-years per project</a:t>
            </a:r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(seL4, CompCert).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66928" y="3657600"/>
            <a:ext cx="5852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automation on offer in 2023:
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Hammers (Sledgehammer): strong but plateaued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Tactic-prediction + search (GPT-f, Thor): one step at a time, huge search trees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checker call is slow; search cost explodes with depth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858000" y="1463040"/>
            <a:ext cx="4754880" cy="4480560"/>
          </a:xfrm>
          <a:prstGeom prst="roundRect">
            <a:avLst>
              <a:gd name="adj" fmla="val 2041"/>
            </a:avLst>
          </a:prstGeom>
          <a:solidFill>
            <a:srgbClr val="EAF1FC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0" y="1691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PROOF, THE OLD WAY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0" y="2148840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0" y="214884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 tactic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052560" y="271576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0" y="3017520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0" y="301752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checker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052560" y="358444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0" y="3886200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0" y="388620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&amp; backtrack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052560" y="445312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0" y="4754880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0" y="475488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repeat… hundreds of times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132320" y="5532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depth × checker latency = the bottleneck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210B · SE + PL in the Age of AI · Winter 2027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280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2 · TECHNIQUE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idea: generate the whole proof at once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5394960" cy="566928"/>
          </a:xfrm>
          <a:prstGeom prst="roundRect">
            <a:avLst>
              <a:gd name="adj" fmla="val 12903"/>
            </a:avLst>
          </a:prstGeom>
          <a:solidFill>
            <a:srgbClr val="5A6478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5448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Tactic-by-tactic search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95528" y="233172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predicts one step; checker validates; search branches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Checker in the inner loop — slow and expensive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never sees the proof as a whole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63640" y="1554480"/>
            <a:ext cx="5394960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263640" y="155448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Baldur: whole-proof generation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33172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LLM emits a complete proof from the theorem statement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Checker runs once per candidate — sampling replaces tree search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fails: a repair model consumes the error message and tries again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66928" y="502920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5138928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bet: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that has read millions of proofs can draft a plausible whole proof more cheaply than search can assemble one — and the proof checker makes wrong drafts free.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210B · SE + PL in the Age of AI · Winter 2027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280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2 · TECHNIQUE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pipeline: generate, check, repair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EAF1FC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8745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949" y="19952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27048" y="19385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41248" y="2697480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Minerva models (8B / 62B) fine-tuned on Isabelle/HOL proof corpora emit complete candidate proofs; sample N candidates per theorem.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151376" y="301752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453128" y="160020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EAF1FC"/>
          </a:solidFill>
          <a:ln/>
        </p:spPr>
      </p:sp>
      <p:sp>
        <p:nvSpPr>
          <p:cNvPr id="11" name="Shape 8"/>
          <p:cNvSpPr/>
          <p:nvPr/>
        </p:nvSpPr>
        <p:spPr>
          <a:xfrm>
            <a:off x="4727448" y="18745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8149" y="19952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13248" y="19385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4727448" y="2697480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Isabelle checks each candidate. Accepted proof ⇒ done. The checker is the ground truth — hallucinated proofs cost nothing but compute.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8037576" y="301752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339328" y="160020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EAF1FC"/>
          </a:solidFill>
          <a:ln/>
        </p:spPr>
      </p:sp>
      <p:sp>
        <p:nvSpPr>
          <p:cNvPr id="17" name="Shape 13"/>
          <p:cNvSpPr/>
          <p:nvPr/>
        </p:nvSpPr>
        <p:spPr>
          <a:xfrm>
            <a:off x="8613648" y="18745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4349" y="199522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299448" y="19385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Repair</a:t>
            </a:r>
            <a:endParaRPr lang="en-US" sz="1900" dirty="0"/>
          </a:p>
        </p:txBody>
      </p:sp>
      <p:sp>
        <p:nvSpPr>
          <p:cNvPr id="20" name="Text 15"/>
          <p:cNvSpPr/>
          <p:nvPr/>
        </p:nvSpPr>
        <p:spPr>
          <a:xfrm>
            <a:off x="8613648" y="2697480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fine-tuned model takes (statement, failed proof, checker error message) and emits a corrected proof — error messages are training signal, not noise.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566928" y="52578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 the paper:  </a:t>
            </a:r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file context (nearby lemmas and definitions) to the prompt further improves proof rates — an early premise-selection signal that LeanDojo (#41) and Rango (#44) later industrialize.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210B · SE + PL in the Age of AI · Winter 2027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280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3 · 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Evaluation: 6,336 real Isabelle/HOL theorems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EAF1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56232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7567" y="1960839"/>
            <a:ext cx="266273" cy="2662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928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46888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6,336 theorems and their human proofs, drawn from real Isabelle/HOL developments (the PISA setup used by Thor).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63640" y="160020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EAF1FC"/>
          </a:solidFill>
          <a:ln/>
        </p:spPr>
      </p:sp>
      <p:sp>
        <p:nvSpPr>
          <p:cNvPr id="10" name="Shape 7"/>
          <p:cNvSpPr/>
          <p:nvPr/>
        </p:nvSpPr>
        <p:spPr>
          <a:xfrm>
            <a:off x="6519672" y="1856232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4279" y="1960839"/>
            <a:ext cx="266273" cy="26627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59752" y="18928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19672" y="246888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rate: fraction of theorems for which some generated candidate is accepted by the checker.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66928" y="379476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EAF1FC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050792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567" y="4155399"/>
            <a:ext cx="266273" cy="26627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40873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22960" y="466344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 (LM + Sledgehammer, prior SOTA) and Sledgehammer alone; ablations isolate repair, context, and model scale.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263640" y="379476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1E2761"/>
          </a:solidFill>
          <a:ln/>
        </p:spPr>
      </p:sp>
      <p:sp>
        <p:nvSpPr>
          <p:cNvPr id="20" name="Shape 15"/>
          <p:cNvSpPr/>
          <p:nvPr/>
        </p:nvSpPr>
        <p:spPr>
          <a:xfrm>
            <a:off x="6519672" y="4050792"/>
            <a:ext cx="475488" cy="47548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4279" y="4155399"/>
            <a:ext cx="266273" cy="26627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59752" y="40873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to ask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519672" y="466344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benchmark theorems representative of the proofs you actually need in a verified development — or the easy tail?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210B · SE + PL in the Age of AI · Winter 2027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280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3 · 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whole-proof generation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3520440" cy="2834640"/>
          </a:xfrm>
          <a:prstGeom prst="roundRect">
            <a:avLst>
              <a:gd name="adj" fmla="val 3226"/>
            </a:avLst>
          </a:prstGeom>
          <a:solidFill>
            <a:srgbClr val="EAF1FC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96596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+8.7%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95528" y="31546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theorems than Thor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95528" y="36576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prior state of the art (LM + hammer)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53128" y="1645920"/>
            <a:ext cx="3520440" cy="2834640"/>
          </a:xfrm>
          <a:prstGeom prst="roundRect">
            <a:avLst>
              <a:gd name="adj" fmla="val 3226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4453128" y="196596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65.7%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4681728" y="31546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 in combination with Thor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681728" y="36576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6,336 theorems — complementary strengths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339328" y="1645920"/>
            <a:ext cx="3520440" cy="2834640"/>
          </a:xfrm>
          <a:prstGeom prst="roundRect">
            <a:avLst>
              <a:gd name="adj" fmla="val 3226"/>
            </a:avLst>
          </a:prstGeom>
          <a:solidFill>
            <a:srgbClr val="EAF1FC"/>
          </a:solidFill>
          <a:ln/>
        </p:spPr>
      </p:sp>
      <p:sp>
        <p:nvSpPr>
          <p:cNvPr id="13" name="Text 11"/>
          <p:cNvSpPr/>
          <p:nvPr/>
        </p:nvSpPr>
        <p:spPr>
          <a:xfrm>
            <a:off x="8339328" y="196596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call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8567928" y="31546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checker per candidate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567928" y="36576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+ repair replaces deep tree search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66928" y="4892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it:  </a:t>
            </a:r>
            <a:pPr indent="0" marL="0">
              <a:buNone/>
            </a:pPr>
            <a:r>
              <a:rPr lang="en-US" sz="14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with the actual error message beats spending the same budget on more samples, and file context helps — both findings that shaped every later system on our list.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66928" y="5806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from the published FSE 2023 version — verify against your own reality-check run before presenting.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210B · SE + PL in the Age of AI · Winter 2027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280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3½ · CRITIQUE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reading: what to push 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3000" y="1481328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Isabelle-only — </a:t>
            </a:r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whole-proof generation transfer to Lean 4 and Rocq, where proof styles differ (term-mode, structured tactics)? (Spoiler for discussion: 2024–26 says yes — but the paper couldn't know that.)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67919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3000" y="26517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freeze — </a:t>
            </a:r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Baldur is a fine-tuned 2022-era model. What survives when frontier in-context models (COPRA, #42) skip fine-tuning entirely?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496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3849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3822192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validity — </a:t>
            </a:r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theorems from the same corpora the community mines for training — how worried should we be about leakage in 2023-era evals?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502005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5020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3000" y="4992624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accounting — </a:t>
            </a:r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62B fine-tune + N samples per theorem: what is the $/proved-theorem, and how does it compare with a proof engineer's hour?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210B · SE + PL in the Age of AI · Winter 2027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280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4 · REALITY CHECK — REQUIRED SLIDE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Reality check: Baldur's numbers in 2027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EAF1F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 (2023)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rate: 65.7% (with Thor) on 6,336 Isabelle theorems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fine-tuned Minerva 8B / 62B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uses checker error messages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Claimed limits: context length, no search, Isabelle only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55448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9050">
            <a:solidFill>
              <a:srgbClr val="F96167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565392" y="17830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RERUN (2027) — fill me 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65392" y="219456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model + version, theorem sample, budget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proof rate:  ____ %  on  ____ theorems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2023 limitations still hold?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are gone? (one concrete example)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wall-clock / tokens / $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the result in reality-checks.md after class — the paper's number is the baseline; your delta is the finding.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210B · SE + PL in the Age of AI · Winter 2027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280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5 · DISCUSSION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(seeded from your submitted questions)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11064240" cy="1170432"/>
          </a:xfrm>
          <a:prstGeom prst="roundRect">
            <a:avLst>
              <a:gd name="adj" fmla="val 7813"/>
            </a:avLst>
          </a:prstGeom>
          <a:solidFill>
            <a:srgbClr val="EAF1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5623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00200" y="1682496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sampling + repair beats search, what is left for classical proof automation (hammers, decision procedures) — junior partner or inner loop?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2926080"/>
            <a:ext cx="11064240" cy="1170432"/>
          </a:xfrm>
          <a:prstGeom prst="roundRect">
            <a:avLst>
              <a:gd name="adj" fmla="val 7813"/>
            </a:avLst>
          </a:prstGeom>
          <a:solidFill>
            <a:srgbClr val="EAF1F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22783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00200" y="3054096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Baldur treats the checker as free and the model as expensive. In 2027 the economics have flipped. How should that invert the system design?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66928" y="4297680"/>
            <a:ext cx="11064240" cy="1170432"/>
          </a:xfrm>
          <a:prstGeom prst="roundRect">
            <a:avLst>
              <a:gd name="adj" fmla="val 7813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59943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00200" y="4425696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Whole-proof generation succeeds on benchmark theorems. Would it survive the definitional layer of a fresh POPL-paper mechanization (our coda problem)?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66928" y="5806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the best of tonight's submitted questions — reviewed at 9pm yesterday, woven in here.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210B · SE + PL in the Age of AI · Winter 2027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BALDUR SITS IN OUR ARC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0058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paper, three descendants on our reading list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960120"/>
          </a:xfrm>
          <a:prstGeom prst="roundRect">
            <a:avLst>
              <a:gd name="adj" fmla="val 9524"/>
            </a:avLst>
          </a:prstGeom>
          <a:solidFill>
            <a:srgbClr val="27346F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07568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#40  Draft, Sketch &amp; Prove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4480560" y="2075688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informal-to-formal bridge Baldur's one-shot drafts hint at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3108960"/>
            <a:ext cx="10515600" cy="960120"/>
          </a:xfrm>
          <a:prstGeom prst="roundRect">
            <a:avLst>
              <a:gd name="adj" fmla="val 9524"/>
            </a:avLst>
          </a:prstGeom>
          <a:solidFill>
            <a:srgbClr val="27346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21868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#43  PALM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480560" y="3218688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diagnoses why whole proofs fail (structure right, details wrong) and repairs symbolically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4251960"/>
            <a:ext cx="10515600" cy="960120"/>
          </a:xfrm>
          <a:prstGeom prst="roundRect">
            <a:avLst>
              <a:gd name="adj" fmla="val 9524"/>
            </a:avLst>
          </a:prstGeom>
          <a:solidFill>
            <a:srgbClr val="27346F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436168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#44  Rango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480560" y="4361688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retrieval-adapted whole-proof generation for real Coq software projects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5669280"/>
            <a:ext cx="4754880" cy="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the checker turns hallucination from a bug into a search strategy — Baldur was the proof of concept.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2026-07-20T23:12:24Z</dcterms:created>
  <dcterms:modified xsi:type="dcterms:W3CDTF">2026-07-20T23:12:24Z</dcterms:modified>
</cp:coreProperties>
</file>